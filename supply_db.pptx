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258" r:id="rId7"/>
    <p:sldId id="264" r:id="rId8"/>
    <p:sldId id="265" r:id="rId9"/>
    <p:sldId id="266" r:id="rId10"/>
    <p:sldId id="268" r:id="rId11"/>
    <p:sldId id="269" r:id="rId12"/>
    <p:sldId id="272" r:id="rId13"/>
    <p:sldId id="271" r:id="rId14"/>
    <p:sldId id="270" r:id="rId15"/>
    <p:sldId id="274" r:id="rId16"/>
    <p:sldId id="273" r:id="rId17"/>
    <p:sldId id="27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66" d="100"/>
          <a:sy n="66" d="100"/>
        </p:scale>
        <p:origin x="668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197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12/4/2025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12/3/2025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>
                <a:latin typeface="Arial" pitchFamily="34" charset="0"/>
                <a:cs typeface="Arial" pitchFamily="34" charset="0"/>
              </a:rPr>
              <a:t>NOTE:</a:t>
            </a:r>
          </a:p>
          <a:p>
            <a:r>
              <a:rPr lang="en-US" i="1" dirty="0">
                <a:latin typeface="Arial" pitchFamily="34" charset="0"/>
                <a:cs typeface="Arial" pitchFamily="34" charset="0"/>
              </a:rPr>
              <a:t>To change the  image on this slide, select the picture and delete it. Then click the Pictures icon in the placeholder to insert your own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50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12/3/2025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12/3/2025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12/3/2025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12/3/2025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12/3/2025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12/3/2025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12/3/2025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12/3/2025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12/3/2025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12/3/2025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391879" y="2421033"/>
            <a:ext cx="6191050" cy="1145664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Fulfillment And Customer Analytics Using SQL (supply_db)</a:t>
            </a:r>
            <a:endParaRPr lang="en-US" sz="2800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4DC76B9D-DA61-B4B7-F618-B0C16AE40E7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13" b="9613"/>
          <a:stretch>
            <a:fillRect/>
          </a:stretch>
        </p:blipFill>
        <p:spPr>
          <a:xfrm>
            <a:off x="6791315" y="1324698"/>
            <a:ext cx="5210937" cy="4208604"/>
          </a:xfrm>
        </p:spPr>
      </p:pic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Being an analyst for a retail company , you need to know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order performance</a:t>
            </a:r>
          </a:p>
          <a:p>
            <a:r>
              <a:rPr lang="en-IN" dirty="0"/>
              <a:t>shipping efficiency</a:t>
            </a:r>
          </a:p>
          <a:p>
            <a:r>
              <a:rPr lang="en-IN" dirty="0"/>
              <a:t>customer behaviour</a:t>
            </a:r>
          </a:p>
          <a:p>
            <a:r>
              <a:rPr lang="en-IN" dirty="0"/>
              <a:t>cancellations &amp; fraud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25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Objectives &amp; key points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B9E842-0174-ED1D-6A82-9479DB86B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376414"/>
            <a:ext cx="10156658" cy="518801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Objectives</a:t>
            </a:r>
          </a:p>
          <a:p>
            <a:r>
              <a:rPr lang="en-IN" dirty="0"/>
              <a:t>measure </a:t>
            </a:r>
            <a:r>
              <a:rPr lang="en-IN" b="1" dirty="0"/>
              <a:t>order fulfillment efficiency</a:t>
            </a:r>
          </a:p>
          <a:p>
            <a:r>
              <a:rPr lang="en-US" dirty="0"/>
              <a:t>analyse </a:t>
            </a:r>
            <a:r>
              <a:rPr lang="en-US" b="1" dirty="0"/>
              <a:t>shipping performance</a:t>
            </a:r>
            <a:r>
              <a:rPr lang="en-US" dirty="0"/>
              <a:t> and delays</a:t>
            </a:r>
          </a:p>
          <a:p>
            <a:r>
              <a:rPr lang="en-IN" dirty="0"/>
              <a:t>identify </a:t>
            </a:r>
            <a:r>
              <a:rPr lang="en-IN" b="1" dirty="0"/>
              <a:t>high-value customers</a:t>
            </a:r>
          </a:p>
          <a:p>
            <a:r>
              <a:rPr lang="en-US" dirty="0"/>
              <a:t>understand </a:t>
            </a:r>
            <a:r>
              <a:rPr lang="en-US" b="1" dirty="0"/>
              <a:t>cancellation and suspected fraud patterns</a:t>
            </a:r>
          </a:p>
          <a:p>
            <a:pPr marL="0" indent="0">
              <a:buNone/>
            </a:pPr>
            <a:r>
              <a:rPr lang="en-IN" b="1" dirty="0"/>
              <a:t>key points</a:t>
            </a:r>
            <a:endParaRPr lang="en-US" b="1" dirty="0"/>
          </a:p>
          <a:p>
            <a:r>
              <a:rPr lang="en-IN" dirty="0"/>
              <a:t>total orders, total sales</a:t>
            </a:r>
          </a:p>
          <a:p>
            <a:r>
              <a:rPr lang="en-IN" dirty="0"/>
              <a:t>order cancellation %</a:t>
            </a:r>
          </a:p>
          <a:p>
            <a:r>
              <a:rPr lang="en-IN" dirty="0"/>
              <a:t>shipment compliance categories</a:t>
            </a:r>
          </a:p>
          <a:p>
            <a:r>
              <a:rPr lang="en-US" dirty="0"/>
              <a:t>delayed orders by shipping mode</a:t>
            </a:r>
          </a:p>
          <a:p>
            <a:r>
              <a:rPr lang="en-US" dirty="0"/>
              <a:t>top customers by completed orders</a:t>
            </a:r>
          </a:p>
          <a:p>
            <a:r>
              <a:rPr lang="en-US" dirty="0"/>
              <a:t>orders by department &amp; shipping mode</a:t>
            </a:r>
            <a:endParaRPr lang="en-US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0278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27E64F-0DC9-B8BF-7825-0FEF805CDB85}"/>
              </a:ext>
            </a:extLst>
          </p:cNvPr>
          <p:cNvSpPr txBox="1"/>
          <p:nvPr/>
        </p:nvSpPr>
        <p:spPr>
          <a:xfrm>
            <a:off x="306404" y="433138"/>
            <a:ext cx="11579192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 the number of orders by the Type of Transaction. Please exclude orders shipped from Sangli and Srinagar. Also, exclude the SUSPECTED_FRAUD cases based on the Order Status. Sort the result in the descending order based on the number of orders.</a:t>
            </a:r>
            <a:r>
              <a:rPr lang="en-US" sz="28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180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result in the descending order based on the number of orders.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AC935E-2E18-0BF2-2690-6078B9FA0089}"/>
              </a:ext>
            </a:extLst>
          </p:cNvPr>
          <p:cNvSpPr txBox="1"/>
          <p:nvPr/>
        </p:nvSpPr>
        <p:spPr>
          <a:xfrm>
            <a:off x="306404" y="2631897"/>
            <a:ext cx="7779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Expected Output  :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526EB7-0B94-6219-6D70-80BC17ECA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76" y="3107107"/>
            <a:ext cx="5725324" cy="133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380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5A865F-228C-5628-1030-75F6E481DCB0}"/>
              </a:ext>
            </a:extLst>
          </p:cNvPr>
          <p:cNvSpPr txBox="1"/>
          <p:nvPr/>
        </p:nvSpPr>
        <p:spPr>
          <a:xfrm>
            <a:off x="421105" y="552188"/>
            <a:ext cx="1069607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Order_Id, Type, Order_City, Order_Status,count(order_id) as orders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orders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order_city not in ("sangli", "srinagar")and order_status &lt;&gt; "suspected_fraud"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type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orders desc;</a:t>
            </a:r>
          </a:p>
        </p:txBody>
      </p:sp>
    </p:spTree>
    <p:extLst>
      <p:ext uri="{BB962C8B-B14F-4D97-AF65-F5344CB8AC3E}">
        <p14:creationId xmlns:p14="http://schemas.microsoft.com/office/powerpoint/2010/main" val="3784729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39B302-880C-453B-89E3-7ADAFB81BBE7}"/>
              </a:ext>
            </a:extLst>
          </p:cNvPr>
          <p:cNvSpPr txBox="1"/>
          <p:nvPr/>
        </p:nvSpPr>
        <p:spPr>
          <a:xfrm>
            <a:off x="471637" y="433137"/>
            <a:ext cx="11232684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Get the list of the Top 3 customers based on the completed orders along with the following details:</a:t>
            </a:r>
          </a:p>
          <a:p>
            <a:r>
              <a:rPr lang="en-I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Id</a:t>
            </a:r>
          </a:p>
          <a:p>
            <a:r>
              <a:rPr lang="en-I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First Name</a:t>
            </a:r>
          </a:p>
          <a:p>
            <a:r>
              <a:rPr lang="en-I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City</a:t>
            </a:r>
          </a:p>
          <a:p>
            <a:r>
              <a:rPr lang="en-I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State</a:t>
            </a:r>
          </a:p>
          <a:p>
            <a:r>
              <a:rPr lang="en-I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completed orders</a:t>
            </a:r>
          </a:p>
          <a:p>
            <a:r>
              <a:rPr lang="en-I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Sales of completed order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58A760-4A3D-8E64-3E15-3E5BFCE1E046}"/>
              </a:ext>
            </a:extLst>
          </p:cNvPr>
          <p:cNvSpPr txBox="1"/>
          <p:nvPr/>
        </p:nvSpPr>
        <p:spPr>
          <a:xfrm>
            <a:off x="487679" y="3912448"/>
            <a:ext cx="105589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 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77BF37-9574-F936-1F91-8B87EB9A5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79" y="4585006"/>
            <a:ext cx="6163535" cy="111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562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618913-2103-30B2-16B2-B59561D693F6}"/>
              </a:ext>
            </a:extLst>
          </p:cNvPr>
          <p:cNvSpPr txBox="1"/>
          <p:nvPr/>
        </p:nvSpPr>
        <p:spPr>
          <a:xfrm>
            <a:off x="435142" y="314460"/>
            <a:ext cx="10162273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com_ord as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o.order_id,o.customer_id,o.order_status,oi.sales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orders as o join ordered_items as oi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using(order_id)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o.order_status = 'complete'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),o_summary as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order_id,customer_id,sum(sales) as ord_lev_sales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com_ord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order_id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c.id , c.first_name , c.city , c.state 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count(os.order_id) as completed_orders,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sum(ord_lev_sales) as Total_sales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o_summary as os join customer_info c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os.customer_id = c.id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c.id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completed_orders desc,total_sales desc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 3;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3332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5E0C61-AC67-128A-CAD1-AB361169E800}"/>
              </a:ext>
            </a:extLst>
          </p:cNvPr>
          <p:cNvSpPr txBox="1"/>
          <p:nvPr/>
        </p:nvSpPr>
        <p:spPr>
          <a:xfrm>
            <a:off x="417094" y="459634"/>
            <a:ext cx="1135781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*Get the order count by the Shipping Mode and the Department Name. Consider departments with at least 40 closed/completed orders.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0F4162-56A3-F0B0-98E3-8432ADA2C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19" y="2314335"/>
            <a:ext cx="3381847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656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3462C4-C592-AF17-5FF7-CA62D5904CC6}"/>
              </a:ext>
            </a:extLst>
          </p:cNvPr>
          <p:cNvSpPr txBox="1"/>
          <p:nvPr/>
        </p:nvSpPr>
        <p:spPr>
          <a:xfrm>
            <a:off x="423510" y="464720"/>
            <a:ext cx="1111718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order_dept as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o.order_id, o.order_status, o.shipping_mode, d.name as dep_name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orders o join ordered_items oi using (order_id)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product_info p on oi.item_id = p.product_id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department d on p.department_id = d.id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dep_40 as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dep_name, count(distinct order_id) as orders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order_dept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order_status in ("Complete", "Closed")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dep_name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having orders&gt;=40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count(distinct order_id) as Orders, shipping_mode, dep_name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order_dept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dep_name in (select dep_name from dep_40)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shipping_mode, dep_name;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0198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7B3580-8AF6-8A20-FAF6-714F73B1FD1D}"/>
              </a:ext>
            </a:extLst>
          </p:cNvPr>
          <p:cNvSpPr txBox="1"/>
          <p:nvPr/>
        </p:nvSpPr>
        <p:spPr>
          <a:xfrm>
            <a:off x="551849" y="641030"/>
            <a:ext cx="1053003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*Create a new field as shipment compliance based on Real_Shipping_Days and Scheduled_Shipping_Days. It should have the following values:</a:t>
            </a:r>
          </a:p>
          <a:p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Cancelled shipment - If the Order Status is SUSPECTED_FRAUD or CANCELED</a:t>
            </a:r>
          </a:p>
          <a:p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Within schedule - If shipped within the scheduled number of days</a:t>
            </a:r>
          </a:p>
          <a:p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time - If shipped exactly as per schedule</a:t>
            </a:r>
          </a:p>
          <a:p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Upto 2 days of delay - If shipped beyond schedule but delay upto 2 days</a:t>
            </a:r>
          </a:p>
          <a:p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Beyond 2 days of delay - If shipped beyond schedule with delay beyond 2 days</a:t>
            </a:r>
          </a:p>
          <a:p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shipping mode was observed to have the greatest number of delayed orders?</a:t>
            </a:r>
          </a:p>
        </p:txBody>
      </p:sp>
    </p:spTree>
    <p:extLst>
      <p:ext uri="{BB962C8B-B14F-4D97-AF65-F5344CB8AC3E}">
        <p14:creationId xmlns:p14="http://schemas.microsoft.com/office/powerpoint/2010/main" val="4001839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E143A72-06B6-38A3-BB1B-5E04190318B9}"/>
              </a:ext>
            </a:extLst>
          </p:cNvPr>
          <p:cNvSpPr txBox="1"/>
          <p:nvPr/>
        </p:nvSpPr>
        <p:spPr>
          <a:xfrm>
            <a:off x="577516" y="471962"/>
            <a:ext cx="107610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B93591-8307-2F5E-CA45-48A9AF5CD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16" y="1144914"/>
            <a:ext cx="3086531" cy="129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17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D3350A-4A5C-D1D5-F2E3-18A77039AAD9}"/>
              </a:ext>
            </a:extLst>
          </p:cNvPr>
          <p:cNvSpPr txBox="1"/>
          <p:nvPr/>
        </p:nvSpPr>
        <p:spPr>
          <a:xfrm>
            <a:off x="490888" y="581016"/>
            <a:ext cx="1084767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cte as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  case   when order_status = 'suspected_fraud'or order_status ='canceled' then 'cancelled shipment'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            when real_shipping_days &lt; scheduled_shipping_days then 'within schedule'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            when real_shipping_days = scheduled_shipping_days then 'on time'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            when real_shipping_days - scheduled_shipping_days &lt;=2 then 'upto 2 days of delay'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            when real_shipping_days - scheduled_shipping_days &gt;2  then 'beyond 2 days of delay'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             end as shipment_compliance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orders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count(order_id) as delayed_orders, shipping_mode from cte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Shipment_Compliance in ("Upto 2 days of delay", "beyond 2 days of delay")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shipping_mode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delayed_orders desc;</a:t>
            </a:r>
          </a:p>
        </p:txBody>
      </p:sp>
    </p:spTree>
    <p:extLst>
      <p:ext uri="{BB962C8B-B14F-4D97-AF65-F5344CB8AC3E}">
        <p14:creationId xmlns:p14="http://schemas.microsoft.com/office/powerpoint/2010/main" val="533523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9DE271-C3C1-4ED4-A4B4-CC1F4C540EBC}"/>
              </a:ext>
            </a:extLst>
          </p:cNvPr>
          <p:cNvSpPr txBox="1"/>
          <p:nvPr/>
        </p:nvSpPr>
        <p:spPr>
          <a:xfrm>
            <a:off x="490888" y="476751"/>
            <a:ext cx="1086692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*An order is cancelled when the status of the order is either cancelled or SUSPECTED_FRAUD. Obtain the list of states by the order cancellation % and sort them in the descending order of the cancellation %</a:t>
            </a:r>
          </a:p>
          <a:p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Definition: Cancellation % = Cancelled orders / Total Orders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2281C5-0976-625B-EA2A-6719A300A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888" y="2521621"/>
            <a:ext cx="5830114" cy="4090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342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0907E5-6799-2E32-43A4-27898229EE11}"/>
              </a:ext>
            </a:extLst>
          </p:cNvPr>
          <p:cNvSpPr txBox="1"/>
          <p:nvPr/>
        </p:nvSpPr>
        <p:spPr>
          <a:xfrm>
            <a:off x="500513" y="510985"/>
            <a:ext cx="996214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c_orders as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Order_State,count(Order_Id) as cancelled_orders from orders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order_status in ('canceled', 'suspected_fraud')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Order_State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),t_orders as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Order_State,count(Order_Id) as Total_orders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orders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Order_State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)select t.order_state,t.total_orders ,c.cancelled_orders,round((c.cancelled_orders/t.total_orders)*100,2)  as cancellation_perc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t_orders t join c_orders c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using(Order_State)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cancellation_perc desc;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7876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cademic Literature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3431380.potx" id="{B573BD99-E105-4D2A-964B-B901A176567A}" vid="{B1D363B9-18DE-4874-9E2B-FD69B5C6548D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8CDDBB83-77C1-4099-A0AA-289882E745E2}">
  <ds:schemaRefs>
    <ds:schemaRef ds:uri="http://purl.org/dc/elements/1.1/"/>
    <ds:schemaRef ds:uri="http://schemas.microsoft.com/office/2006/metadata/properties"/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Academic presentation, pinstripe and ribbon design (widescreen)</Template>
  <TotalTime>2836</TotalTime>
  <Words>1116</Words>
  <Application>Microsoft Office PowerPoint</Application>
  <PresentationFormat>Widescreen</PresentationFormat>
  <Paragraphs>128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Consolas</vt:lpstr>
      <vt:lpstr>Euphemia</vt:lpstr>
      <vt:lpstr>Plantagenet Cherokee</vt:lpstr>
      <vt:lpstr>Times New Roman</vt:lpstr>
      <vt:lpstr>Wingdings</vt:lpstr>
      <vt:lpstr>Academic Literature 16x9</vt:lpstr>
      <vt:lpstr>PowerPoint Presentation</vt:lpstr>
      <vt:lpstr>Being an analyst for a retail company , you need to know</vt:lpstr>
      <vt:lpstr>Objectives &amp; key points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Manikanta Srinivas Chintalapudi</dc:creator>
  <cp:lastModifiedBy>Manikanta Srinivas Chintalapudi</cp:lastModifiedBy>
  <cp:revision>2</cp:revision>
  <dcterms:created xsi:type="dcterms:W3CDTF">2025-12-03T08:31:03Z</dcterms:created>
  <dcterms:modified xsi:type="dcterms:W3CDTF">2025-12-05T07:48:40Z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